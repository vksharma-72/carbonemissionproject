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5" r:id="rId1"/>
  </p:sldMasterIdLst>
  <p:sldIdLst>
    <p:sldId id="256" r:id="rId2"/>
    <p:sldId id="257" r:id="rId3"/>
    <p:sldId id="258" r:id="rId4"/>
    <p:sldId id="259" r:id="rId5"/>
    <p:sldId id="260" r:id="rId6"/>
    <p:sldId id="261" r:id="rId7"/>
    <p:sldId id="263" r:id="rId8"/>
    <p:sldId id="264" r:id="rId9"/>
    <p:sldId id="266" r:id="rId10"/>
    <p:sldId id="265" r:id="rId11"/>
    <p:sldId id="262" r:id="rId1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792">
          <p15:clr>
            <a:srgbClr val="A4A3A4"/>
          </p15:clr>
        </p15:guide>
        <p15:guide id="2" pos="192">
          <p15:clr>
            <a:srgbClr val="A4A3A4"/>
          </p15:clr>
        </p15:guide>
        <p15:guide id="3" orient="horz" pos="1080">
          <p15:clr>
            <a:srgbClr val="A4A3A4"/>
          </p15:clr>
        </p15:guide>
      </p15:sldGuideLst>
    </p:ext>
    <p:ext uri="http://customooxmlschemas.google.com/">
      <go:slidesCustomData xmlns="" xmlns:go="http://customooxmlschemas.google.com/"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220" roundtripDataSignature="AMtx7miWNY2LB4ETJwrL8F0N+EK9hEhqU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165" d="100"/>
          <a:sy n="165" d="100"/>
        </p:scale>
        <p:origin x="144" y="144"/>
      </p:cViewPr>
      <p:guideLst>
        <p:guide orient="horz" pos="792"/>
        <p:guide pos="192"/>
        <p:guide orient="horz" pos="10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22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22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20" Type="http://customschemas.google.com/relationships/presentationmetadata" Target="metadata"/><Relationship Id="rId5" Type="http://schemas.openxmlformats.org/officeDocument/2006/relationships/slide" Target="slides/slide4.xml"/><Relationship Id="rId10" Type="http://schemas.openxmlformats.org/officeDocument/2006/relationships/slide" Target="slides/slide9.xml"/><Relationship Id="rId22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223"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3413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78783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p:cSld name="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27718775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826647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pic>
        <p:nvPicPr>
          <p:cNvPr id="13" name="Google Shape;110;p4" descr="A close up of a sign&#10;&#10;Description automatically generated">
            <a:extLst>
              <a:ext uri="{FF2B5EF4-FFF2-40B4-BE49-F238E27FC236}">
                <a16:creationId xmlns:a16="http://schemas.microsoft.com/office/drawing/2014/main" id="{CE849A3B-BCF0-B774-F89E-81965C71F93E}"/>
              </a:ext>
            </a:extLst>
          </p:cNvPr>
          <p:cNvPicPr preferRelativeResize="0"/>
          <p:nvPr/>
        </p:nvPicPr>
        <p:blipFill rotWithShape="1">
          <a:blip r:embed="rId6">
            <a:alphaModFix/>
          </a:blip>
          <a:srcRect/>
          <a:stretch/>
        </p:blipFill>
        <p:spPr>
          <a:xfrm>
            <a:off x="10072688" y="78002"/>
            <a:ext cx="1800225" cy="575514"/>
          </a:xfrm>
          <a:prstGeom prst="rect">
            <a:avLst/>
          </a:prstGeom>
          <a:noFill/>
          <a:ln>
            <a:noFill/>
          </a:ln>
        </p:spPr>
      </p:pic>
      <p:sp>
        <p:nvSpPr>
          <p:cNvPr id="15" name="Rectangle 14">
            <a:extLst>
              <a:ext uri="{FF2B5EF4-FFF2-40B4-BE49-F238E27FC236}">
                <a16:creationId xmlns:a16="http://schemas.microsoft.com/office/drawing/2014/main" id="{E153E6A6-60E4-FE14-1CBC-8CC211274D1C}"/>
              </a:ext>
            </a:extLst>
          </p:cNvPr>
          <p:cNvSpPr/>
          <p:nvPr/>
        </p:nvSpPr>
        <p:spPr>
          <a:xfrm>
            <a:off x="1" y="0"/>
            <a:ext cx="9829800" cy="717630"/>
          </a:xfrm>
          <a:prstGeom prst="rect">
            <a:avLst/>
          </a:prstGeom>
          <a:solidFill>
            <a:srgbClr val="213264"/>
          </a:solidFill>
          <a:ln>
            <a:solidFill>
              <a:srgbClr val="2132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2C7CE881-772B-9023-3054-4B219B75D755}"/>
              </a:ext>
            </a:extLst>
          </p:cNvPr>
          <p:cNvSpPr/>
          <p:nvPr/>
        </p:nvSpPr>
        <p:spPr>
          <a:xfrm>
            <a:off x="9888967" y="-419"/>
            <a:ext cx="112283" cy="732357"/>
          </a:xfrm>
          <a:prstGeom prst="rect">
            <a:avLst/>
          </a:prstGeom>
          <a:solidFill>
            <a:srgbClr val="7FB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1" name="Picture 30" descr="A blue and white background&#10;&#10;Description automatically generated with medium confidence">
            <a:extLst>
              <a:ext uri="{FF2B5EF4-FFF2-40B4-BE49-F238E27FC236}">
                <a16:creationId xmlns:a16="http://schemas.microsoft.com/office/drawing/2014/main" id="{16A7B69A-9B14-87FE-841D-37F0A91D141D}"/>
              </a:ext>
            </a:extLst>
          </p:cNvPr>
          <p:cNvPicPr>
            <a:picLocks noChangeAspect="1"/>
          </p:cNvPicPr>
          <p:nvPr/>
        </p:nvPicPr>
        <p:blipFill rotWithShape="1">
          <a:blip r:embed="rId7">
            <a:alphaModFix amt="16000"/>
          </a:blip>
          <a:srcRect t="24724" r="1619" b="63695"/>
          <a:stretch/>
        </p:blipFill>
        <p:spPr>
          <a:xfrm>
            <a:off x="0" y="-1"/>
            <a:ext cx="9839325" cy="723901"/>
          </a:xfrm>
          <a:prstGeom prst="rect">
            <a:avLst/>
          </a:prstGeom>
        </p:spPr>
      </p:pic>
      <p:sp>
        <p:nvSpPr>
          <p:cNvPr id="2" name="Rectangle 1">
            <a:extLst>
              <a:ext uri="{FF2B5EF4-FFF2-40B4-BE49-F238E27FC236}">
                <a16:creationId xmlns:a16="http://schemas.microsoft.com/office/drawing/2014/main" id="{37B91A16-5D54-2FC0-B0FD-A78085FC1313}"/>
              </a:ext>
            </a:extLst>
          </p:cNvPr>
          <p:cNvSpPr/>
          <p:nvPr/>
        </p:nvSpPr>
        <p:spPr>
          <a:xfrm>
            <a:off x="11925300" y="-419"/>
            <a:ext cx="266700" cy="732357"/>
          </a:xfrm>
          <a:prstGeom prst="rect">
            <a:avLst/>
          </a:prstGeom>
          <a:solidFill>
            <a:srgbClr val="FED5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 bg1="lt1" tx1="dk1" bg2="dk2" tx2="lt2" accent1="accent1" accent2="accent2" accent3="accent3" accent4="accent4" accent5="accent5" accent6="accent6" hlink="hlink" folHlink="folHlink"/>
  <p:sldLayoutIdLst>
    <p:sldLayoutId id="2147483687" r:id="rId1"/>
    <p:sldLayoutId id="2147483701" r:id="rId2"/>
    <p:sldLayoutId id="2147483714" r:id="rId3"/>
    <p:sldLayoutId id="2147483727" r:id="rId4"/>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www.freepik.com/"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hyperlink" Target="https://www.scitepress.org/Papers/2023/128001/128001.pdf" TargetMode="External"/><Relationship Id="rId2" Type="http://schemas.openxmlformats.org/officeDocument/2006/relationships/hyperlink" Target="https://www.frontiersin.org/journals/ecology-and-evolution/articles/10.3389/fevo.2023.1270248/full" TargetMode="External"/><Relationship Id="rId1" Type="http://schemas.openxmlformats.org/officeDocument/2006/relationships/slideLayout" Target="../slideLayouts/slideLayout1.xml"/><Relationship Id="rId5" Type="http://schemas.openxmlformats.org/officeDocument/2006/relationships/hyperlink" Target="https://sist.sathyabama.ac.in/sist_naac/documents/1.3.4/1822-b.e-cse-batchno-327.pdf" TargetMode="External"/><Relationship Id="rId4" Type="http://schemas.openxmlformats.org/officeDocument/2006/relationships/hyperlink" Target="https://github.com/Mysterio1248/Co2-forecasting-app"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person sitting at a desk with a computer&#10;&#10;Description automatically generated">
            <a:extLst>
              <a:ext uri="{FF2B5EF4-FFF2-40B4-BE49-F238E27FC236}">
                <a16:creationId xmlns:a16="http://schemas.microsoft.com/office/drawing/2014/main" id="{07B8740D-C76F-46FC-AEFB-23FB0614DB0C}"/>
              </a:ext>
            </a:extLst>
          </p:cNvPr>
          <p:cNvPicPr>
            <a:picLocks noChangeAspect="1"/>
          </p:cNvPicPr>
          <p:nvPr/>
        </p:nvPicPr>
        <p:blipFill>
          <a:blip r:embed="rId2"/>
          <a:stretch>
            <a:fillRect/>
          </a:stretch>
        </p:blipFill>
        <p:spPr>
          <a:xfrm>
            <a:off x="0" y="0"/>
            <a:ext cx="12192000" cy="6858000"/>
          </a:xfrm>
          <a:prstGeom prst="rect">
            <a:avLst/>
          </a:prstGeom>
        </p:spPr>
      </p:pic>
      <p:sp>
        <p:nvSpPr>
          <p:cNvPr id="4" name="Rectangle: Rounded Corners 3">
            <a:extLst>
              <a:ext uri="{FF2B5EF4-FFF2-40B4-BE49-F238E27FC236}">
                <a16:creationId xmlns:a16="http://schemas.microsoft.com/office/drawing/2014/main" id="{C1857762-AD52-483C-B3E1-635C5BBC6F2F}"/>
              </a:ext>
            </a:extLst>
          </p:cNvPr>
          <p:cNvSpPr/>
          <p:nvPr/>
        </p:nvSpPr>
        <p:spPr>
          <a:xfrm>
            <a:off x="5873750" y="584200"/>
            <a:ext cx="4673600" cy="977900"/>
          </a:xfrm>
          <a:prstGeom prst="roundRect">
            <a:avLst/>
          </a:prstGeom>
          <a:solidFill>
            <a:srgbClr val="EBEEF9"/>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D5067E9C-C7B9-4476-9708-CBB3F66FD892}"/>
              </a:ext>
            </a:extLst>
          </p:cNvPr>
          <p:cNvSpPr txBox="1"/>
          <p:nvPr/>
        </p:nvSpPr>
        <p:spPr>
          <a:xfrm>
            <a:off x="4425117" y="3749634"/>
            <a:ext cx="3341765" cy="646331"/>
          </a:xfrm>
          <a:prstGeom prst="rect">
            <a:avLst/>
          </a:prstGeom>
          <a:noFill/>
        </p:spPr>
        <p:txBody>
          <a:bodyPr wrap="square" rtlCol="0">
            <a:spAutoFit/>
          </a:bodyPr>
          <a:lstStyle/>
          <a:p>
            <a:pPr algn="r"/>
            <a:r>
              <a:rPr lang="en-US" sz="3600" b="1" dirty="0">
                <a:solidFill>
                  <a:schemeClr val="bg1"/>
                </a:solidFill>
                <a:latin typeface="Calibri" panose="020F0502020204030204" pitchFamily="34" charset="0"/>
                <a:cs typeface="Times New Roman" panose="02020603050405020304" pitchFamily="18" charset="0"/>
              </a:rPr>
              <a:t>Carbon Emission  </a:t>
            </a:r>
            <a:r>
              <a:rPr lang="en-IN" sz="3600" b="1" dirty="0">
                <a:solidFill>
                  <a:schemeClr val="bg1"/>
                </a:solidFill>
                <a:latin typeface="Calibri" panose="020F0502020204030204" pitchFamily="34" charset="0"/>
                <a:cs typeface="Times New Roman" panose="02020603050405020304" pitchFamily="18" charset="0"/>
              </a:rPr>
              <a:t> </a:t>
            </a:r>
            <a:endParaRPr lang="en-US" sz="3600" b="1" dirty="0">
              <a:solidFill>
                <a:schemeClr val="bg1"/>
              </a:solidFill>
              <a:latin typeface="Arial" panose="020B0604020202020204" pitchFamily="34" charset="0"/>
              <a:cs typeface="Arial" panose="020B0604020202020204" pitchFamily="34" charset="0"/>
            </a:endParaRPr>
          </a:p>
        </p:txBody>
      </p:sp>
      <p:grpSp>
        <p:nvGrpSpPr>
          <p:cNvPr id="6" name="Group 5">
            <a:extLst>
              <a:ext uri="{FF2B5EF4-FFF2-40B4-BE49-F238E27FC236}">
                <a16:creationId xmlns:a16="http://schemas.microsoft.com/office/drawing/2014/main" id="{D7224A59-2417-428A-A991-E468431BB817}"/>
              </a:ext>
            </a:extLst>
          </p:cNvPr>
          <p:cNvGrpSpPr/>
          <p:nvPr/>
        </p:nvGrpSpPr>
        <p:grpSpPr>
          <a:xfrm>
            <a:off x="6890523" y="742091"/>
            <a:ext cx="2640053" cy="664378"/>
            <a:chOff x="2375536" y="1112060"/>
            <a:chExt cx="3292636" cy="828603"/>
          </a:xfrm>
        </p:grpSpPr>
        <p:pic>
          <p:nvPicPr>
            <p:cNvPr id="7" name="Picture 6" descr="A close up of a logo&#10;&#10;Description automatically generated">
              <a:extLst>
                <a:ext uri="{FF2B5EF4-FFF2-40B4-BE49-F238E27FC236}">
                  <a16:creationId xmlns:a16="http://schemas.microsoft.com/office/drawing/2014/main" id="{BD3530AF-9771-470E-A9BF-F28AA227533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92781" y="1270168"/>
              <a:ext cx="1575391" cy="512386"/>
            </a:xfrm>
            <a:prstGeom prst="rect">
              <a:avLst/>
            </a:prstGeom>
          </p:spPr>
        </p:pic>
        <p:pic>
          <p:nvPicPr>
            <p:cNvPr id="8" name="Picture 7" descr="A yellow and red shell logo&#10;&#10;Description automatically generated">
              <a:extLst>
                <a:ext uri="{FF2B5EF4-FFF2-40B4-BE49-F238E27FC236}">
                  <a16:creationId xmlns:a16="http://schemas.microsoft.com/office/drawing/2014/main" id="{75E6A819-9F3F-4787-A707-A7415C302BFA}"/>
                </a:ext>
              </a:extLst>
            </p:cNvPr>
            <p:cNvPicPr>
              <a:picLocks noChangeAspect="1"/>
            </p:cNvPicPr>
            <p:nvPr/>
          </p:nvPicPr>
          <p:blipFill>
            <a:blip r:embed="rId4"/>
            <a:stretch>
              <a:fillRect/>
            </a:stretch>
          </p:blipFill>
          <p:spPr>
            <a:xfrm>
              <a:off x="2375536" y="1112060"/>
              <a:ext cx="985475" cy="828603"/>
            </a:xfrm>
            <a:prstGeom prst="rect">
              <a:avLst/>
            </a:prstGeom>
          </p:spPr>
        </p:pic>
      </p:grpSp>
      <p:sp>
        <p:nvSpPr>
          <p:cNvPr id="3" name="TextBox 2">
            <a:extLst>
              <a:ext uri="{FF2B5EF4-FFF2-40B4-BE49-F238E27FC236}">
                <a16:creationId xmlns:a16="http://schemas.microsoft.com/office/drawing/2014/main" id="{8378FDFD-AC57-CB3D-DD17-D4F1FE634DC5}"/>
              </a:ext>
            </a:extLst>
          </p:cNvPr>
          <p:cNvSpPr txBox="1"/>
          <p:nvPr/>
        </p:nvSpPr>
        <p:spPr>
          <a:xfrm>
            <a:off x="4443274" y="4708697"/>
            <a:ext cx="6104076" cy="954300"/>
          </a:xfrm>
          <a:prstGeom prst="rect">
            <a:avLst/>
          </a:prstGeom>
          <a:noFill/>
        </p:spPr>
        <p:txBody>
          <a:bodyPr wrap="square" rtlCol="0">
            <a:spAutoFit/>
          </a:bodyPr>
          <a:lstStyle/>
          <a:p>
            <a:r>
              <a:rPr lang="en-IN" dirty="0">
                <a:solidFill>
                  <a:schemeClr val="bg1"/>
                </a:solidFill>
              </a:rPr>
              <a:t>Vishnu Kumar Sharma</a:t>
            </a:r>
          </a:p>
          <a:p>
            <a:r>
              <a:rPr lang="en-IN" dirty="0">
                <a:solidFill>
                  <a:schemeClr val="bg1"/>
                </a:solidFill>
              </a:rPr>
              <a:t>AICTE Student ID: STU67572cf70ef911733766391</a:t>
            </a:r>
          </a:p>
          <a:p>
            <a:r>
              <a:rPr lang="en-IN" dirty="0">
                <a:solidFill>
                  <a:schemeClr val="bg1"/>
                </a:solidFill>
              </a:rPr>
              <a:t>06-July-2025</a:t>
            </a:r>
          </a:p>
        </p:txBody>
      </p:sp>
    </p:spTree>
    <p:extLst>
      <p:ext uri="{BB962C8B-B14F-4D97-AF65-F5344CB8AC3E}">
        <p14:creationId xmlns:p14="http://schemas.microsoft.com/office/powerpoint/2010/main" val="3671276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094E319-C77C-49E2-964C-6E125D716194}"/>
              </a:ext>
            </a:extLst>
          </p:cNvPr>
          <p:cNvSpPr txBox="1"/>
          <p:nvPr/>
        </p:nvSpPr>
        <p:spPr>
          <a:xfrm>
            <a:off x="191911" y="972537"/>
            <a:ext cx="2652889" cy="400110"/>
          </a:xfrm>
          <a:prstGeom prst="rect">
            <a:avLst/>
          </a:prstGeom>
          <a:noFill/>
        </p:spPr>
        <p:txBody>
          <a:bodyPr wrap="square">
            <a:spAutoFit/>
          </a:bodyPr>
          <a:lstStyle/>
          <a:p>
            <a:r>
              <a:rPr lang="en-IN" sz="2000" b="1" dirty="0">
                <a:solidFill>
                  <a:srgbClr val="213163"/>
                </a:solidFill>
              </a:rPr>
              <a:t>Learning Objectives</a:t>
            </a:r>
            <a:endParaRPr lang="en-IN" sz="2000" dirty="0">
              <a:solidFill>
                <a:srgbClr val="213163"/>
              </a:solidFill>
            </a:endParaRPr>
          </a:p>
        </p:txBody>
      </p:sp>
      <p:sp>
        <p:nvSpPr>
          <p:cNvPr id="3" name="TextBox 2">
            <a:extLst>
              <a:ext uri="{FF2B5EF4-FFF2-40B4-BE49-F238E27FC236}">
                <a16:creationId xmlns:a16="http://schemas.microsoft.com/office/drawing/2014/main" id="{8E1F3497-5370-4874-9908-5AD45214E10B}"/>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dirty="0">
                <a:latin typeface="+mn-lt"/>
              </a:rPr>
              <a:t>Source : </a:t>
            </a:r>
          </a:p>
        </p:txBody>
      </p:sp>
      <p:sp>
        <p:nvSpPr>
          <p:cNvPr id="4" name="TextBox 3">
            <a:extLst>
              <a:ext uri="{FF2B5EF4-FFF2-40B4-BE49-F238E27FC236}">
                <a16:creationId xmlns:a16="http://schemas.microsoft.com/office/drawing/2014/main" id="{ECE830DD-8813-42EB-B27B-B7D85423D0C7}"/>
              </a:ext>
            </a:extLst>
          </p:cNvPr>
          <p:cNvSpPr txBox="1"/>
          <p:nvPr/>
        </p:nvSpPr>
        <p:spPr>
          <a:xfrm>
            <a:off x="880529" y="6135329"/>
            <a:ext cx="1842351" cy="276999"/>
          </a:xfrm>
          <a:prstGeom prst="rect">
            <a:avLst/>
          </a:prstGeom>
          <a:noFill/>
        </p:spPr>
        <p:txBody>
          <a:bodyPr wrap="square" rtlCol="0">
            <a:spAutoFit/>
          </a:bodyPr>
          <a:lstStyle/>
          <a:p>
            <a:pPr>
              <a:spcAft>
                <a:spcPts val="800"/>
              </a:spcAft>
            </a:pPr>
            <a:r>
              <a:rPr lang="en-IN" sz="1200" dirty="0">
                <a:solidFill>
                  <a:srgbClr val="0000FF"/>
                </a:solidFill>
                <a:latin typeface="+mn-lt"/>
                <a:hlinkClick r:id="rId2">
                  <a:extLst>
                    <a:ext uri="{A12FA001-AC4F-418D-AE19-62706E023703}">
                      <ahyp:hlinkClr xmlns:ahyp="http://schemas.microsoft.com/office/drawing/2018/hyperlinkcolor" val="tx"/>
                    </a:ext>
                  </a:extLst>
                </a:hlinkClick>
              </a:rPr>
              <a:t>www.freepik.com/</a:t>
            </a:r>
            <a:endParaRPr lang="en-IN" sz="1200" dirty="0">
              <a:solidFill>
                <a:srgbClr val="0000FF"/>
              </a:solidFill>
              <a:latin typeface="+mn-lt"/>
            </a:endParaRPr>
          </a:p>
        </p:txBody>
      </p:sp>
      <p:cxnSp>
        <p:nvCxnSpPr>
          <p:cNvPr id="5" name="Straight Connector 4">
            <a:extLst>
              <a:ext uri="{FF2B5EF4-FFF2-40B4-BE49-F238E27FC236}">
                <a16:creationId xmlns:a16="http://schemas.microsoft.com/office/drawing/2014/main" id="{CA22F707-7F22-48A3-97EC-98EFB1023A55}"/>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ladder leading to a large yellow circle&#10;&#10;Description automatically generated">
            <a:extLst>
              <a:ext uri="{FF2B5EF4-FFF2-40B4-BE49-F238E27FC236}">
                <a16:creationId xmlns:a16="http://schemas.microsoft.com/office/drawing/2014/main" id="{E2920B14-B344-4926-9729-BC7EBD91FF9A}"/>
              </a:ext>
            </a:extLst>
          </p:cNvPr>
          <p:cNvPicPr>
            <a:picLocks noChangeAspect="1"/>
          </p:cNvPicPr>
          <p:nvPr/>
        </p:nvPicPr>
        <p:blipFill rotWithShape="1">
          <a:blip r:embed="rId3">
            <a:alphaModFix amt="85000"/>
          </a:blip>
          <a:srcRect l="13763" t="6135" r="13650"/>
          <a:stretch/>
        </p:blipFill>
        <p:spPr>
          <a:xfrm>
            <a:off x="7340600" y="1422400"/>
            <a:ext cx="4500880" cy="4632960"/>
          </a:xfrm>
          <a:prstGeom prst="rect">
            <a:avLst/>
          </a:prstGeom>
        </p:spPr>
      </p:pic>
      <p:sp>
        <p:nvSpPr>
          <p:cNvPr id="7" name="TextBox 6">
            <a:extLst>
              <a:ext uri="{FF2B5EF4-FFF2-40B4-BE49-F238E27FC236}">
                <a16:creationId xmlns:a16="http://schemas.microsoft.com/office/drawing/2014/main" id="{6C264928-EACB-4739-BDDA-6799C99356F3}"/>
              </a:ext>
            </a:extLst>
          </p:cNvPr>
          <p:cNvSpPr txBox="1"/>
          <p:nvPr/>
        </p:nvSpPr>
        <p:spPr>
          <a:xfrm>
            <a:off x="8839200" y="3168609"/>
            <a:ext cx="1503681" cy="630942"/>
          </a:xfrm>
          <a:prstGeom prst="rect">
            <a:avLst/>
          </a:prstGeom>
          <a:noFill/>
        </p:spPr>
        <p:txBody>
          <a:bodyPr wrap="square" rtlCol="0">
            <a:spAutoFit/>
          </a:bodyPr>
          <a:lstStyle/>
          <a:p>
            <a:pPr>
              <a:spcAft>
                <a:spcPts val="800"/>
              </a:spcAft>
            </a:pPr>
            <a:r>
              <a:rPr lang="en-IN" sz="3500" b="1" dirty="0">
                <a:solidFill>
                  <a:schemeClr val="tx1"/>
                </a:solidFill>
                <a:latin typeface="+mn-lt"/>
              </a:rPr>
              <a:t>GOAL</a:t>
            </a:r>
          </a:p>
        </p:txBody>
      </p:sp>
      <p:sp>
        <p:nvSpPr>
          <p:cNvPr id="9" name="TextBox 8">
            <a:extLst>
              <a:ext uri="{FF2B5EF4-FFF2-40B4-BE49-F238E27FC236}">
                <a16:creationId xmlns:a16="http://schemas.microsoft.com/office/drawing/2014/main" id="{ECA1DB27-C4EB-69C8-6C20-2B7A4F66F7FB}"/>
              </a:ext>
            </a:extLst>
          </p:cNvPr>
          <p:cNvSpPr txBox="1"/>
          <p:nvPr/>
        </p:nvSpPr>
        <p:spPr>
          <a:xfrm>
            <a:off x="350520" y="1821177"/>
            <a:ext cx="7305469" cy="3785652"/>
          </a:xfrm>
          <a:prstGeom prst="rect">
            <a:avLst/>
          </a:prstGeom>
          <a:noFill/>
        </p:spPr>
        <p:txBody>
          <a:bodyPr wrap="square">
            <a:spAutoFit/>
          </a:bodyPr>
          <a:lstStyle/>
          <a:p>
            <a:pPr>
              <a:buFont typeface="Arial" panose="020B0604020202020204" pitchFamily="34" charset="0"/>
              <a:buChar char="•"/>
            </a:pPr>
            <a:r>
              <a:rPr lang="en-US" sz="2400" b="0" i="0" dirty="0">
                <a:effectLst/>
                <a:latin typeface="fkGroteskNeue"/>
              </a:rPr>
              <a:t>Understand the significance of greenhouse gas (GHG) emissions in U.S. industry supply chains.</a:t>
            </a:r>
          </a:p>
          <a:p>
            <a:pPr>
              <a:buFont typeface="Arial" panose="020B0604020202020204" pitchFamily="34" charset="0"/>
              <a:buChar char="•"/>
            </a:pPr>
            <a:r>
              <a:rPr lang="en-US" sz="2400" b="0" i="0" dirty="0">
                <a:effectLst/>
                <a:latin typeface="fkGroteskNeue"/>
              </a:rPr>
              <a:t>Learn how machine learning can be applied to predict and analyze GHG emissions.</a:t>
            </a:r>
          </a:p>
          <a:p>
            <a:pPr>
              <a:buFont typeface="Arial" panose="020B0604020202020204" pitchFamily="34" charset="0"/>
              <a:buChar char="•"/>
            </a:pPr>
            <a:r>
              <a:rPr lang="en-US" sz="2400" b="0" i="0" dirty="0">
                <a:effectLst/>
                <a:latin typeface="fkGroteskNeue"/>
              </a:rPr>
              <a:t>Identify key factors influencing emissions across different industrial sectors.</a:t>
            </a:r>
          </a:p>
          <a:p>
            <a:pPr>
              <a:buFont typeface="Arial" panose="020B0604020202020204" pitchFamily="34" charset="0"/>
              <a:buChar char="•"/>
            </a:pPr>
            <a:r>
              <a:rPr lang="en-US" sz="2400" b="0" i="0" dirty="0">
                <a:effectLst/>
                <a:latin typeface="fkGroteskNeue"/>
              </a:rPr>
              <a:t>Develop skills in data preprocessing, model building, and interpretation for sustainability analytics.</a:t>
            </a:r>
          </a:p>
          <a:p>
            <a:pPr>
              <a:buFont typeface="Arial" panose="020B0604020202020204" pitchFamily="34" charset="0"/>
              <a:buChar char="•"/>
            </a:pPr>
            <a:r>
              <a:rPr lang="en-US" sz="2400" b="0" i="0" dirty="0">
                <a:effectLst/>
                <a:latin typeface="fkGroteskNeue"/>
              </a:rPr>
              <a:t>Gain experience in presenting actionable insights to support data-driven sustainability practices.</a:t>
            </a:r>
          </a:p>
        </p:txBody>
      </p:sp>
    </p:spTree>
    <p:extLst>
      <p:ext uri="{BB962C8B-B14F-4D97-AF65-F5344CB8AC3E}">
        <p14:creationId xmlns:p14="http://schemas.microsoft.com/office/powerpoint/2010/main" val="29320524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135834" y="1067664"/>
            <a:ext cx="6102626" cy="400110"/>
          </a:xfrm>
          <a:prstGeom prst="rect">
            <a:avLst/>
          </a:prstGeom>
          <a:noFill/>
        </p:spPr>
        <p:txBody>
          <a:bodyPr wrap="square">
            <a:spAutoFit/>
          </a:bodyPr>
          <a:lstStyle/>
          <a:p>
            <a:r>
              <a:rPr lang="en-US" sz="1800" b="1" dirty="0">
                <a:solidFill>
                  <a:srgbClr val="213163"/>
                </a:solidFill>
              </a:rPr>
              <a:t>T</a:t>
            </a:r>
            <a:r>
              <a:rPr lang="en-IN" sz="2000" b="1" dirty="0" err="1">
                <a:solidFill>
                  <a:srgbClr val="213163"/>
                </a:solidFill>
              </a:rPr>
              <a:t>ools</a:t>
            </a:r>
            <a:r>
              <a:rPr lang="en-IN" sz="2000" b="1" dirty="0">
                <a:solidFill>
                  <a:srgbClr val="213163"/>
                </a:solidFill>
              </a:rPr>
              <a:t> and Technology used </a:t>
            </a:r>
          </a:p>
        </p:txBody>
      </p:sp>
      <p:sp>
        <p:nvSpPr>
          <p:cNvPr id="4" name="TextBox 3">
            <a:extLst>
              <a:ext uri="{FF2B5EF4-FFF2-40B4-BE49-F238E27FC236}">
                <a16:creationId xmlns:a16="http://schemas.microsoft.com/office/drawing/2014/main" id="{B2841C03-CDE4-29EE-1D5B-DBDF562E50EA}"/>
              </a:ext>
            </a:extLst>
          </p:cNvPr>
          <p:cNvSpPr txBox="1"/>
          <p:nvPr/>
        </p:nvSpPr>
        <p:spPr>
          <a:xfrm>
            <a:off x="330856" y="1735119"/>
            <a:ext cx="7659584" cy="2246769"/>
          </a:xfrm>
          <a:prstGeom prst="rect">
            <a:avLst/>
          </a:prstGeom>
          <a:noFill/>
        </p:spPr>
        <p:txBody>
          <a:bodyPr wrap="square">
            <a:spAutoFit/>
          </a:bodyPr>
          <a:lstStyle/>
          <a:p>
            <a:pPr algn="l">
              <a:buFont typeface="Arial" panose="020B0604020202020204" pitchFamily="34" charset="0"/>
              <a:buChar char="•"/>
            </a:pPr>
            <a:r>
              <a:rPr lang="en-IN" sz="2000" b="1" i="0" dirty="0">
                <a:effectLst/>
                <a:latin typeface="fkGroteskNeue"/>
              </a:rPr>
              <a:t>Programming Language: </a:t>
            </a:r>
            <a:r>
              <a:rPr lang="en-IN" sz="2000" b="0" i="0" dirty="0">
                <a:effectLst/>
                <a:latin typeface="fkGroteskNeue"/>
              </a:rPr>
              <a:t>Python 3.12.10</a:t>
            </a:r>
          </a:p>
          <a:p>
            <a:pPr algn="l">
              <a:buFont typeface="Arial" panose="020B0604020202020204" pitchFamily="34" charset="0"/>
              <a:buChar char="•"/>
            </a:pPr>
            <a:r>
              <a:rPr lang="en-IN" sz="2000" b="1" i="0" dirty="0">
                <a:effectLst/>
                <a:latin typeface="fkGroteskNeue"/>
              </a:rPr>
              <a:t>Data Analysis &amp; Manipulation: </a:t>
            </a:r>
            <a:r>
              <a:rPr lang="en-IN" sz="2000" b="0" i="0" dirty="0">
                <a:effectLst/>
                <a:latin typeface="fkGroteskNeue"/>
              </a:rPr>
              <a:t>Pandas, NumPy</a:t>
            </a:r>
          </a:p>
          <a:p>
            <a:pPr algn="l">
              <a:buFont typeface="Arial" panose="020B0604020202020204" pitchFamily="34" charset="0"/>
              <a:buChar char="•"/>
            </a:pPr>
            <a:r>
              <a:rPr lang="en-IN" sz="2000" b="1" i="0" dirty="0">
                <a:effectLst/>
                <a:latin typeface="fkGroteskNeue"/>
              </a:rPr>
              <a:t>Machine Learning Libraries:</a:t>
            </a:r>
            <a:r>
              <a:rPr lang="en-IN" sz="2000" b="0" i="0" dirty="0">
                <a:effectLst/>
                <a:latin typeface="fkGroteskNeue"/>
              </a:rPr>
              <a:t> scikit-learn, </a:t>
            </a:r>
            <a:r>
              <a:rPr lang="en-IN" sz="2000" b="0" i="0" dirty="0" err="1">
                <a:effectLst/>
                <a:latin typeface="fkGroteskNeue"/>
              </a:rPr>
              <a:t>XGBoost</a:t>
            </a:r>
            <a:r>
              <a:rPr lang="en-IN" sz="2000" b="0" i="0" dirty="0">
                <a:effectLst/>
                <a:latin typeface="fkGroteskNeue"/>
              </a:rPr>
              <a:t>, </a:t>
            </a:r>
            <a:r>
              <a:rPr lang="en-IN" sz="2000" b="0" i="0" dirty="0" err="1">
                <a:effectLst/>
                <a:latin typeface="fkGroteskNeue"/>
              </a:rPr>
              <a:t>LightGBM</a:t>
            </a:r>
            <a:endParaRPr lang="en-IN" sz="2000" b="0" i="0" dirty="0">
              <a:effectLst/>
              <a:latin typeface="fkGroteskNeue"/>
            </a:endParaRPr>
          </a:p>
          <a:p>
            <a:pPr algn="l">
              <a:buFont typeface="Arial" panose="020B0604020202020204" pitchFamily="34" charset="0"/>
              <a:buChar char="•"/>
            </a:pPr>
            <a:r>
              <a:rPr lang="en-IN" sz="2000" b="1" i="0" dirty="0">
                <a:effectLst/>
                <a:latin typeface="fkGroteskNeue"/>
              </a:rPr>
              <a:t>Visualization: </a:t>
            </a:r>
            <a:r>
              <a:rPr lang="en-IN" sz="2000" b="0" i="0" dirty="0">
                <a:effectLst/>
                <a:latin typeface="fkGroteskNeue"/>
              </a:rPr>
              <a:t>Matplotlib, Seaborn, </a:t>
            </a:r>
            <a:r>
              <a:rPr lang="en-IN" sz="2000" b="0" i="0" dirty="0" err="1">
                <a:effectLst/>
                <a:latin typeface="fkGroteskNeue"/>
              </a:rPr>
              <a:t>Plotly</a:t>
            </a:r>
            <a:endParaRPr lang="en-IN" sz="2000" b="0" i="0" dirty="0">
              <a:effectLst/>
              <a:latin typeface="fkGroteskNeue"/>
            </a:endParaRPr>
          </a:p>
          <a:p>
            <a:pPr algn="l">
              <a:buFont typeface="Arial" panose="020B0604020202020204" pitchFamily="34" charset="0"/>
              <a:buChar char="•"/>
            </a:pPr>
            <a:r>
              <a:rPr lang="en-IN" sz="2000" b="1" i="0" dirty="0">
                <a:effectLst/>
                <a:latin typeface="fkGroteskNeue"/>
              </a:rPr>
              <a:t>Model Interpretation: </a:t>
            </a:r>
            <a:r>
              <a:rPr lang="en-IN" sz="2000" b="0" i="0" dirty="0">
                <a:effectLst/>
                <a:latin typeface="fkGroteskNeue"/>
              </a:rPr>
              <a:t>SHAP (</a:t>
            </a:r>
            <a:r>
              <a:rPr lang="en-IN" sz="2000" b="0" i="0" dirty="0" err="1">
                <a:effectLst/>
                <a:latin typeface="fkGroteskNeue"/>
              </a:rPr>
              <a:t>SHapley</a:t>
            </a:r>
            <a:r>
              <a:rPr lang="en-IN" sz="2000" b="0" i="0" dirty="0">
                <a:effectLst/>
                <a:latin typeface="fkGroteskNeue"/>
              </a:rPr>
              <a:t> Additive </a:t>
            </a:r>
            <a:r>
              <a:rPr lang="en-IN" sz="2000" b="0" i="0" dirty="0" err="1">
                <a:effectLst/>
                <a:latin typeface="fkGroteskNeue"/>
              </a:rPr>
              <a:t>exPlanations</a:t>
            </a:r>
            <a:r>
              <a:rPr lang="en-IN" sz="2000" b="0" i="0" dirty="0">
                <a:effectLst/>
                <a:latin typeface="fkGroteskNeue"/>
              </a:rPr>
              <a:t>)</a:t>
            </a:r>
          </a:p>
          <a:p>
            <a:pPr algn="l">
              <a:buFont typeface="Arial" panose="020B0604020202020204" pitchFamily="34" charset="0"/>
              <a:buChar char="•"/>
            </a:pPr>
            <a:r>
              <a:rPr lang="en-IN" sz="2000" b="1" i="0" dirty="0">
                <a:effectLst/>
                <a:latin typeface="fkGroteskNeue"/>
              </a:rPr>
              <a:t>Development Environment: </a:t>
            </a:r>
            <a:r>
              <a:rPr lang="en-IN" sz="2000" b="0" i="0" dirty="0" err="1">
                <a:effectLst/>
                <a:latin typeface="fkGroteskNeue"/>
              </a:rPr>
              <a:t>Jupyter</a:t>
            </a:r>
            <a:r>
              <a:rPr lang="en-IN" sz="2000" b="0" i="0" dirty="0">
                <a:effectLst/>
                <a:latin typeface="fkGroteskNeue"/>
              </a:rPr>
              <a:t> Notebook</a:t>
            </a:r>
          </a:p>
          <a:p>
            <a:pPr algn="l">
              <a:buFont typeface="Arial" panose="020B0604020202020204" pitchFamily="34" charset="0"/>
              <a:buChar char="•"/>
            </a:pPr>
            <a:r>
              <a:rPr lang="en-IN" sz="2000" b="1" i="0" dirty="0">
                <a:effectLst/>
                <a:latin typeface="fkGroteskNeue"/>
              </a:rPr>
              <a:t>Version Control: </a:t>
            </a:r>
            <a:r>
              <a:rPr lang="en-IN" sz="2000" b="0" i="0" dirty="0">
                <a:effectLst/>
                <a:latin typeface="fkGroteskNeue"/>
              </a:rPr>
              <a:t>Git </a:t>
            </a:r>
          </a:p>
        </p:txBody>
      </p:sp>
    </p:spTree>
    <p:extLst>
      <p:ext uri="{BB962C8B-B14F-4D97-AF65-F5344CB8AC3E}">
        <p14:creationId xmlns:p14="http://schemas.microsoft.com/office/powerpoint/2010/main" val="564571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68356" y="1014656"/>
            <a:ext cx="6102626" cy="400110"/>
          </a:xfrm>
          <a:prstGeom prst="rect">
            <a:avLst/>
          </a:prstGeom>
          <a:noFill/>
        </p:spPr>
        <p:txBody>
          <a:bodyPr wrap="square">
            <a:spAutoFit/>
          </a:bodyPr>
          <a:lstStyle/>
          <a:p>
            <a:r>
              <a:rPr lang="en-US" sz="2000" b="1" dirty="0">
                <a:solidFill>
                  <a:srgbClr val="213163"/>
                </a:solidFill>
              </a:rPr>
              <a:t>Methodology</a:t>
            </a:r>
            <a:r>
              <a:rPr lang="en-US" sz="1800" b="1" dirty="0">
                <a:solidFill>
                  <a:srgbClr val="213163"/>
                </a:solidFill>
              </a:rPr>
              <a:t> </a:t>
            </a:r>
            <a:endParaRPr lang="en-IN" sz="1800" dirty="0">
              <a:solidFill>
                <a:srgbClr val="213163"/>
              </a:solidFill>
            </a:endParaRPr>
          </a:p>
        </p:txBody>
      </p:sp>
      <p:sp>
        <p:nvSpPr>
          <p:cNvPr id="4" name="TextBox 3">
            <a:extLst>
              <a:ext uri="{FF2B5EF4-FFF2-40B4-BE49-F238E27FC236}">
                <a16:creationId xmlns:a16="http://schemas.microsoft.com/office/drawing/2014/main" id="{C04C0FEB-7AAC-B46A-3AA0-802CB4E08C9D}"/>
              </a:ext>
            </a:extLst>
          </p:cNvPr>
          <p:cNvSpPr txBox="1"/>
          <p:nvPr/>
        </p:nvSpPr>
        <p:spPr>
          <a:xfrm>
            <a:off x="268356" y="1531917"/>
            <a:ext cx="11749473" cy="5118266"/>
          </a:xfrm>
          <a:prstGeom prst="rect">
            <a:avLst/>
          </a:prstGeom>
          <a:noFill/>
        </p:spPr>
        <p:txBody>
          <a:bodyPr wrap="square">
            <a:spAutoFit/>
          </a:bodyPr>
          <a:lstStyle/>
          <a:p>
            <a:pPr algn="l">
              <a:buFont typeface="+mj-lt"/>
              <a:buAutoNum type="arabicPeriod"/>
            </a:pPr>
            <a:r>
              <a:rPr lang="en-US" b="1" i="0" dirty="0">
                <a:effectLst/>
                <a:latin typeface="fkGroteskNeue"/>
              </a:rPr>
              <a:t>Data Collection</a:t>
            </a:r>
          </a:p>
          <a:p>
            <a:pPr marL="742950" lvl="1" indent="-285750" algn="l">
              <a:buFont typeface="+mj-lt"/>
              <a:buAutoNum type="arabicPeriod"/>
            </a:pPr>
            <a:r>
              <a:rPr lang="en-US" b="0" i="0" dirty="0">
                <a:effectLst/>
                <a:latin typeface="fkGroteskNeue"/>
              </a:rPr>
              <a:t>Gathered publicly available datasets from U.S. government agencies (e.g., EPA, EIA) containing supply chain and emissions data.</a:t>
            </a:r>
          </a:p>
          <a:p>
            <a:pPr algn="l">
              <a:buFont typeface="+mj-lt"/>
              <a:buAutoNum type="arabicPeriod"/>
            </a:pPr>
            <a:r>
              <a:rPr lang="en-US" b="1" i="0" dirty="0">
                <a:effectLst/>
                <a:latin typeface="fkGroteskNeue"/>
              </a:rPr>
              <a:t>Data Preprocessing</a:t>
            </a:r>
          </a:p>
          <a:p>
            <a:pPr marL="742950" lvl="1" indent="-285750" algn="l">
              <a:buFont typeface="+mj-lt"/>
              <a:buAutoNum type="arabicPeriod"/>
            </a:pPr>
            <a:r>
              <a:rPr lang="en-US" b="0" i="0" dirty="0">
                <a:effectLst/>
                <a:latin typeface="fkGroteskNeue"/>
              </a:rPr>
              <a:t>Cleaned data by handling missing values and outliers.</a:t>
            </a:r>
          </a:p>
          <a:p>
            <a:pPr marL="742950" lvl="1" indent="-285750" algn="l">
              <a:buFont typeface="+mj-lt"/>
              <a:buAutoNum type="arabicPeriod"/>
            </a:pPr>
            <a:r>
              <a:rPr lang="en-US" b="0" i="0" dirty="0">
                <a:effectLst/>
                <a:latin typeface="fkGroteskNeue"/>
              </a:rPr>
              <a:t>Transformed data through normalization, encoding categorical variables, and feature engineering.</a:t>
            </a:r>
          </a:p>
          <a:p>
            <a:pPr algn="l">
              <a:buFont typeface="+mj-lt"/>
              <a:buAutoNum type="arabicPeriod"/>
            </a:pPr>
            <a:r>
              <a:rPr lang="en-US" b="1" i="0" dirty="0">
                <a:effectLst/>
                <a:latin typeface="fkGroteskNeue"/>
              </a:rPr>
              <a:t>Model Development</a:t>
            </a:r>
          </a:p>
          <a:p>
            <a:pPr marL="742950" lvl="1" indent="-285750" algn="l">
              <a:buFont typeface="+mj-lt"/>
              <a:buAutoNum type="arabicPeriod"/>
            </a:pPr>
            <a:r>
              <a:rPr lang="en-US" b="0" i="0" dirty="0">
                <a:effectLst/>
                <a:latin typeface="fkGroteskNeue"/>
              </a:rPr>
              <a:t>Built regression models (Linear Regression, Random Forest, </a:t>
            </a:r>
            <a:r>
              <a:rPr lang="en-US" b="0" i="0" dirty="0" err="1">
                <a:effectLst/>
                <a:latin typeface="fkGroteskNeue"/>
              </a:rPr>
              <a:t>XGBoost</a:t>
            </a:r>
            <a:r>
              <a:rPr lang="en-US" b="0" i="0" dirty="0">
                <a:effectLst/>
                <a:latin typeface="fkGroteskNeue"/>
              </a:rPr>
              <a:t>) to predict continuous GHG emissions.</a:t>
            </a:r>
          </a:p>
          <a:p>
            <a:pPr marL="742950" lvl="1" indent="-285750" algn="l">
              <a:buFont typeface="+mj-lt"/>
              <a:buAutoNum type="arabicPeriod"/>
            </a:pPr>
            <a:r>
              <a:rPr lang="en-US" b="0" i="0" dirty="0">
                <a:effectLst/>
                <a:latin typeface="fkGroteskNeue"/>
              </a:rPr>
              <a:t>Explored classification models for categorizing emission levels.</a:t>
            </a:r>
          </a:p>
          <a:p>
            <a:pPr algn="l">
              <a:buFont typeface="+mj-lt"/>
              <a:buAutoNum type="arabicPeriod"/>
            </a:pPr>
            <a:r>
              <a:rPr lang="en-US" b="1" i="0" dirty="0">
                <a:effectLst/>
                <a:latin typeface="fkGroteskNeue"/>
              </a:rPr>
              <a:t>Model Evaluation</a:t>
            </a:r>
          </a:p>
          <a:p>
            <a:pPr marL="742950" lvl="1" indent="-285750" algn="l">
              <a:buFont typeface="+mj-lt"/>
              <a:buAutoNum type="arabicPeriod"/>
            </a:pPr>
            <a:r>
              <a:rPr lang="en-US" b="0" i="0" dirty="0">
                <a:effectLst/>
                <a:latin typeface="fkGroteskNeue"/>
              </a:rPr>
              <a:t>Used metrics such as Mean Absolute Error (MAE), Root Mean Squared Error (RMSE), and R² score for regression.</a:t>
            </a:r>
          </a:p>
          <a:p>
            <a:pPr marL="742950" lvl="1" indent="-285750" algn="l">
              <a:buFont typeface="+mj-lt"/>
              <a:buAutoNum type="arabicPeriod"/>
            </a:pPr>
            <a:r>
              <a:rPr lang="en-US" b="0" i="0" dirty="0">
                <a:effectLst/>
                <a:latin typeface="fkGroteskNeue"/>
              </a:rPr>
              <a:t>Evaluated classification models with accuracy, precision, recall, and F1-score.</a:t>
            </a:r>
          </a:p>
          <a:p>
            <a:pPr algn="l">
              <a:buFont typeface="+mj-lt"/>
              <a:buAutoNum type="arabicPeriod"/>
            </a:pPr>
            <a:r>
              <a:rPr lang="en-US" b="1" i="0" dirty="0">
                <a:effectLst/>
                <a:latin typeface="fkGroteskNeue"/>
              </a:rPr>
              <a:t>Model Interpretation</a:t>
            </a:r>
          </a:p>
          <a:p>
            <a:pPr marL="742950" lvl="1" indent="-285750" algn="l">
              <a:buFont typeface="+mj-lt"/>
              <a:buAutoNum type="arabicPeriod"/>
            </a:pPr>
            <a:r>
              <a:rPr lang="en-US" b="0" i="0" dirty="0">
                <a:effectLst/>
                <a:latin typeface="fkGroteskNeue"/>
              </a:rPr>
              <a:t>Analyzed feature importance and used SHAP values to interpret model predictions and identify key emission drivers.</a:t>
            </a:r>
          </a:p>
          <a:p>
            <a:pPr algn="l">
              <a:buFont typeface="+mj-lt"/>
              <a:buAutoNum type="arabicPeriod"/>
            </a:pPr>
            <a:r>
              <a:rPr lang="en-US" b="1" i="0" dirty="0">
                <a:effectLst/>
                <a:latin typeface="fkGroteskNeue"/>
              </a:rPr>
              <a:t>Visualization</a:t>
            </a:r>
          </a:p>
          <a:p>
            <a:pPr marL="742950" lvl="1" indent="-285750" algn="l">
              <a:buFont typeface="+mj-lt"/>
              <a:buAutoNum type="arabicPeriod"/>
            </a:pPr>
            <a:r>
              <a:rPr lang="en-US" b="0" i="0" dirty="0">
                <a:effectLst/>
                <a:latin typeface="fkGroteskNeue"/>
              </a:rPr>
              <a:t>Created sector-wise emission prediction charts and feature impact plots to communicate findings.</a:t>
            </a:r>
          </a:p>
        </p:txBody>
      </p:sp>
    </p:spTree>
    <p:extLst>
      <p:ext uri="{BB962C8B-B14F-4D97-AF65-F5344CB8AC3E}">
        <p14:creationId xmlns:p14="http://schemas.microsoft.com/office/powerpoint/2010/main" val="2706790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Problem Statement:  </a:t>
            </a:r>
            <a:endParaRPr lang="en-IN" sz="2000" b="1" dirty="0">
              <a:solidFill>
                <a:srgbClr val="213163"/>
              </a:solidFill>
            </a:endParaRPr>
          </a:p>
        </p:txBody>
      </p:sp>
      <p:sp>
        <p:nvSpPr>
          <p:cNvPr id="4" name="TextBox 3">
            <a:extLst>
              <a:ext uri="{FF2B5EF4-FFF2-40B4-BE49-F238E27FC236}">
                <a16:creationId xmlns:a16="http://schemas.microsoft.com/office/drawing/2014/main" id="{E524078C-823B-8F25-A1A2-239F7DC0A242}"/>
              </a:ext>
            </a:extLst>
          </p:cNvPr>
          <p:cNvSpPr txBox="1"/>
          <p:nvPr/>
        </p:nvSpPr>
        <p:spPr>
          <a:xfrm>
            <a:off x="391886" y="1650670"/>
            <a:ext cx="10711543" cy="2481943"/>
          </a:xfrm>
          <a:prstGeom prst="rect">
            <a:avLst/>
          </a:prstGeom>
          <a:noFill/>
        </p:spPr>
        <p:txBody>
          <a:bodyPr wrap="square">
            <a:spAutoFit/>
          </a:bodyPr>
          <a:lstStyle/>
          <a:p>
            <a:r>
              <a:rPr lang="en-US" b="0" i="0" dirty="0">
                <a:effectLst/>
                <a:latin typeface="fkGroteskNeue"/>
              </a:rPr>
              <a:t>Despite global efforts to mitigate climate change, greenhouse gas (GHG) emissions—especially carbon dioxide (CO₂)—continue to rise, driven by industrialization, population growth, and energy consumption. Accurate forecasting of future carbon emissions is essential for policymakers, businesses, and international organizations to design effective climate strategies and meet global targets such as those outlined in the Paris Agreement. However, traditional statistical methods often struggle to capture the complex, nonlinear patterns in long-term, country-level emissions data. There is a critical need for robust, data-driven predictive models that can leverage historical emission records to forecast future trends at both the country and global levels, enabling informed decision-making and proactive climate action</a:t>
            </a:r>
            <a:endParaRPr lang="en-IN" dirty="0"/>
          </a:p>
        </p:txBody>
      </p:sp>
    </p:spTree>
    <p:extLst>
      <p:ext uri="{BB962C8B-B14F-4D97-AF65-F5344CB8AC3E}">
        <p14:creationId xmlns:p14="http://schemas.microsoft.com/office/powerpoint/2010/main" val="319659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55104" y="913733"/>
            <a:ext cx="6102626" cy="400110"/>
          </a:xfrm>
          <a:prstGeom prst="rect">
            <a:avLst/>
          </a:prstGeom>
          <a:noFill/>
        </p:spPr>
        <p:txBody>
          <a:bodyPr wrap="square">
            <a:spAutoFit/>
          </a:bodyPr>
          <a:lstStyle/>
          <a:p>
            <a:r>
              <a:rPr lang="en-US" sz="2000" b="1" dirty="0">
                <a:solidFill>
                  <a:srgbClr val="213163"/>
                </a:solidFill>
              </a:rPr>
              <a:t>Solution:  </a:t>
            </a:r>
            <a:endParaRPr lang="en-IN" sz="2000" b="1" dirty="0">
              <a:solidFill>
                <a:srgbClr val="213163"/>
              </a:solidFill>
            </a:endParaRPr>
          </a:p>
        </p:txBody>
      </p:sp>
      <p:sp>
        <p:nvSpPr>
          <p:cNvPr id="4" name="TextBox 3">
            <a:extLst>
              <a:ext uri="{FF2B5EF4-FFF2-40B4-BE49-F238E27FC236}">
                <a16:creationId xmlns:a16="http://schemas.microsoft.com/office/drawing/2014/main" id="{0C6414F8-0094-4E41-FDE4-EDB0154BF159}"/>
              </a:ext>
            </a:extLst>
          </p:cNvPr>
          <p:cNvSpPr txBox="1"/>
          <p:nvPr/>
        </p:nvSpPr>
        <p:spPr>
          <a:xfrm>
            <a:off x="255104" y="1330036"/>
            <a:ext cx="11774600" cy="5062924"/>
          </a:xfrm>
          <a:prstGeom prst="rect">
            <a:avLst/>
          </a:prstGeom>
          <a:noFill/>
        </p:spPr>
        <p:txBody>
          <a:bodyPr wrap="square">
            <a:spAutoFit/>
          </a:bodyPr>
          <a:lstStyle/>
          <a:p>
            <a:pPr algn="l">
              <a:buFont typeface="Arial" panose="020B0604020202020204" pitchFamily="34" charset="0"/>
              <a:buChar char="•"/>
            </a:pPr>
            <a:r>
              <a:rPr lang="en-US" sz="1700" b="1" i="0" dirty="0">
                <a:effectLst/>
                <a:latin typeface="fkGroteskNeue"/>
              </a:rPr>
              <a:t>Data Collection &amp; Preprocessing</a:t>
            </a:r>
          </a:p>
          <a:p>
            <a:pPr marL="742950" lvl="1" indent="-285750" algn="l">
              <a:buFont typeface="Arial" panose="020B0604020202020204" pitchFamily="34" charset="0"/>
              <a:buChar char="•"/>
            </a:pPr>
            <a:r>
              <a:rPr lang="en-US" sz="1700" b="0" i="0" dirty="0">
                <a:effectLst/>
                <a:latin typeface="fkGroteskNeue"/>
              </a:rPr>
              <a:t>Utilize comprehensive historical datasets of country-level CO₂ and GHG emissions from 1750 to 2017.</a:t>
            </a:r>
          </a:p>
          <a:p>
            <a:pPr marL="742950" lvl="1" indent="-285750" algn="l">
              <a:buFont typeface="Arial" panose="020B0604020202020204" pitchFamily="34" charset="0"/>
              <a:buChar char="•"/>
            </a:pPr>
            <a:r>
              <a:rPr lang="en-US" sz="1700" b="0" i="0" dirty="0">
                <a:effectLst/>
                <a:latin typeface="fkGroteskNeue"/>
              </a:rPr>
              <a:t>Clean and preprocess the data by handling missing values, normalizing features, and engineering relevant variables (e.g., energy consumption, population, GDP).</a:t>
            </a:r>
          </a:p>
          <a:p>
            <a:pPr algn="l">
              <a:buFont typeface="Arial" panose="020B0604020202020204" pitchFamily="34" charset="0"/>
              <a:buChar char="•"/>
            </a:pPr>
            <a:r>
              <a:rPr lang="en-US" sz="1700" b="1" i="0" dirty="0">
                <a:effectLst/>
                <a:latin typeface="fkGroteskNeue"/>
              </a:rPr>
              <a:t>Model Development</a:t>
            </a:r>
          </a:p>
          <a:p>
            <a:pPr marL="742950" lvl="1" indent="-285750" algn="l">
              <a:buFont typeface="Arial" panose="020B0604020202020204" pitchFamily="34" charset="0"/>
              <a:buChar char="•"/>
            </a:pPr>
            <a:r>
              <a:rPr lang="en-US" sz="1700" b="0" i="0" dirty="0">
                <a:effectLst/>
                <a:latin typeface="fkGroteskNeue"/>
              </a:rPr>
              <a:t>Implement advanced machine learning models such as Random Forest, </a:t>
            </a:r>
            <a:r>
              <a:rPr lang="en-US" sz="1700" b="0" i="0" dirty="0" err="1">
                <a:effectLst/>
                <a:latin typeface="fkGroteskNeue"/>
              </a:rPr>
              <a:t>XGBoost</a:t>
            </a:r>
            <a:r>
              <a:rPr lang="en-US" sz="1700" b="0" i="0" dirty="0">
                <a:effectLst/>
                <a:latin typeface="fkGroteskNeue"/>
              </a:rPr>
              <a:t>, LSTM (Long Short-Term Memory), and ARIMA to capture temporal and nonlinear relationships in the data</a:t>
            </a:r>
            <a:r>
              <a:rPr lang="en-US" sz="1700" b="0" i="0" u="none" strike="noStrike" dirty="0">
                <a:effectLst/>
                <a:latin typeface="var(--font-berkeley-mono)"/>
                <a:hlinkClick r:id="rId2"/>
              </a:rPr>
              <a:t>4</a:t>
            </a:r>
            <a:r>
              <a:rPr lang="en-US" sz="1700" b="0" i="0" u="none" strike="noStrike" dirty="0">
                <a:effectLst/>
                <a:latin typeface="var(--font-berkeley-mono)"/>
                <a:hlinkClick r:id="rId3"/>
              </a:rPr>
              <a:t>2</a:t>
            </a:r>
            <a:r>
              <a:rPr lang="en-US" sz="1700" b="0" i="0" u="none" strike="noStrike" dirty="0">
                <a:effectLst/>
                <a:latin typeface="var(--font-berkeley-mono)"/>
                <a:hlinkClick r:id="rId4"/>
              </a:rPr>
              <a:t>5</a:t>
            </a:r>
            <a:r>
              <a:rPr lang="en-US" sz="1700" b="0" i="0" dirty="0">
                <a:effectLst/>
                <a:latin typeface="fkGroteskNeue"/>
              </a:rPr>
              <a:t>.</a:t>
            </a:r>
          </a:p>
          <a:p>
            <a:pPr marL="742950" lvl="1" indent="-285750" algn="l">
              <a:buFont typeface="Arial" panose="020B0604020202020204" pitchFamily="34" charset="0"/>
              <a:buChar char="•"/>
            </a:pPr>
            <a:r>
              <a:rPr lang="en-US" sz="1700" b="0" i="0" dirty="0">
                <a:effectLst/>
                <a:latin typeface="fkGroteskNeue"/>
              </a:rPr>
              <a:t>Train and validate models using historical data, optimizing hyperparameters for best performance.</a:t>
            </a:r>
          </a:p>
          <a:p>
            <a:pPr algn="l">
              <a:buFont typeface="Arial" panose="020B0604020202020204" pitchFamily="34" charset="0"/>
              <a:buChar char="•"/>
            </a:pPr>
            <a:r>
              <a:rPr lang="en-US" sz="1700" b="1" i="0" dirty="0">
                <a:effectLst/>
                <a:latin typeface="fkGroteskNeue"/>
              </a:rPr>
              <a:t>Forecasting &amp; Evaluation</a:t>
            </a:r>
          </a:p>
          <a:p>
            <a:pPr marL="742950" lvl="1" indent="-285750" algn="l">
              <a:buFont typeface="Arial" panose="020B0604020202020204" pitchFamily="34" charset="0"/>
              <a:buChar char="•"/>
            </a:pPr>
            <a:r>
              <a:rPr lang="en-US" sz="1700" b="0" i="0" dirty="0">
                <a:effectLst/>
                <a:latin typeface="fkGroteskNeue"/>
              </a:rPr>
              <a:t>Generate forecasts for annual carbon emissions at the country and global levels.</a:t>
            </a:r>
          </a:p>
          <a:p>
            <a:pPr marL="742950" lvl="1" indent="-285750" algn="l">
              <a:buFont typeface="Arial" panose="020B0604020202020204" pitchFamily="34" charset="0"/>
              <a:buChar char="•"/>
            </a:pPr>
            <a:r>
              <a:rPr lang="en-US" sz="1700" b="0" i="0" dirty="0">
                <a:effectLst/>
                <a:latin typeface="fkGroteskNeue"/>
              </a:rPr>
              <a:t>Evaluate model accuracy using metrics like Mean Absolute Error (MAE), Root Mean Squared Error (RMSE), and R² score.</a:t>
            </a:r>
          </a:p>
          <a:p>
            <a:pPr marL="742950" lvl="1" indent="-285750" algn="l">
              <a:buFont typeface="Arial" panose="020B0604020202020204" pitchFamily="34" charset="0"/>
              <a:buChar char="•"/>
            </a:pPr>
            <a:r>
              <a:rPr lang="en-US" sz="1700" b="0" i="0" dirty="0">
                <a:effectLst/>
                <a:latin typeface="fkGroteskNeue"/>
              </a:rPr>
              <a:t>Compare model predictions with actual historical trends to ensure reliability.</a:t>
            </a:r>
          </a:p>
          <a:p>
            <a:pPr algn="l">
              <a:buFont typeface="Arial" panose="020B0604020202020204" pitchFamily="34" charset="0"/>
              <a:buChar char="•"/>
            </a:pPr>
            <a:r>
              <a:rPr lang="en-US" sz="1700" b="1" i="0" dirty="0">
                <a:effectLst/>
                <a:latin typeface="fkGroteskNeue"/>
              </a:rPr>
              <a:t>Interpretation &amp; Insights</a:t>
            </a:r>
          </a:p>
          <a:p>
            <a:pPr marL="742950" lvl="1" indent="-285750" algn="l">
              <a:buFont typeface="Arial" panose="020B0604020202020204" pitchFamily="34" charset="0"/>
              <a:buChar char="•"/>
            </a:pPr>
            <a:r>
              <a:rPr lang="en-US" sz="1700" b="0" i="0" dirty="0">
                <a:effectLst/>
                <a:latin typeface="fkGroteskNeue"/>
              </a:rPr>
              <a:t>Analyze feature importance to identify key drivers of emissions (e.g., energy use, industrial activity, population growth)</a:t>
            </a:r>
            <a:r>
              <a:rPr lang="en-US" sz="1700" b="0" i="0" u="none" strike="noStrike" dirty="0">
                <a:effectLst/>
                <a:latin typeface="var(--font-berkeley-mono)"/>
                <a:hlinkClick r:id="rId5"/>
              </a:rPr>
              <a:t>6</a:t>
            </a:r>
            <a:r>
              <a:rPr lang="en-US" sz="1700" b="0" i="0" dirty="0">
                <a:effectLst/>
                <a:latin typeface="fkGroteskNeue"/>
              </a:rPr>
              <a:t>.</a:t>
            </a:r>
          </a:p>
          <a:p>
            <a:pPr marL="742950" lvl="1" indent="-285750" algn="l">
              <a:buFont typeface="Arial" panose="020B0604020202020204" pitchFamily="34" charset="0"/>
              <a:buChar char="•"/>
            </a:pPr>
            <a:r>
              <a:rPr lang="en-US" sz="1700" b="0" i="0" dirty="0">
                <a:effectLst/>
                <a:latin typeface="fkGroteskNeue"/>
              </a:rPr>
              <a:t>Visualize predicted emission trajectories and highlight countries or regions at risk of exceeding climate targets.</a:t>
            </a:r>
          </a:p>
          <a:p>
            <a:pPr algn="l">
              <a:buFont typeface="Arial" panose="020B0604020202020204" pitchFamily="34" charset="0"/>
              <a:buChar char="•"/>
            </a:pPr>
            <a:r>
              <a:rPr lang="en-US" sz="1700" b="1" i="0" dirty="0">
                <a:effectLst/>
                <a:latin typeface="fkGroteskNeue"/>
              </a:rPr>
              <a:t>Actionable Recommendations</a:t>
            </a:r>
          </a:p>
          <a:p>
            <a:pPr marL="742950" lvl="1" indent="-285750" algn="l">
              <a:buFont typeface="Arial" panose="020B0604020202020204" pitchFamily="34" charset="0"/>
              <a:buChar char="•"/>
            </a:pPr>
            <a:r>
              <a:rPr lang="en-US" sz="1700" b="0" i="0" dirty="0">
                <a:effectLst/>
                <a:latin typeface="fkGroteskNeue"/>
              </a:rPr>
              <a:t>Provide insights to policymakers and stakeholders for setting realistic emission reduction targets.</a:t>
            </a:r>
          </a:p>
          <a:p>
            <a:pPr marL="742950" lvl="1" indent="-285750" algn="l">
              <a:buFont typeface="Arial" panose="020B0604020202020204" pitchFamily="34" charset="0"/>
              <a:buChar char="•"/>
            </a:pPr>
            <a:r>
              <a:rPr lang="en-US" sz="1700" b="0" i="0" dirty="0">
                <a:effectLst/>
                <a:latin typeface="fkGroteskNeue"/>
              </a:rPr>
              <a:t>Suggest strategies for emission mitigation based on model findings, such as promoting renewable energy or improving energy efficiency.</a:t>
            </a:r>
          </a:p>
        </p:txBody>
      </p:sp>
    </p:spTree>
    <p:extLst>
      <p:ext uri="{BB962C8B-B14F-4D97-AF65-F5344CB8AC3E}">
        <p14:creationId xmlns:p14="http://schemas.microsoft.com/office/powerpoint/2010/main" val="30029688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Screenshot of Output:  </a:t>
            </a:r>
            <a:endParaRPr lang="en-IN" sz="2000" b="1" dirty="0">
              <a:solidFill>
                <a:srgbClr val="213163"/>
              </a:solidFill>
            </a:endParaRPr>
          </a:p>
        </p:txBody>
      </p:sp>
      <p:pic>
        <p:nvPicPr>
          <p:cNvPr id="1028" name="Picture 4">
            <a:extLst>
              <a:ext uri="{FF2B5EF4-FFF2-40B4-BE49-F238E27FC236}">
                <a16:creationId xmlns:a16="http://schemas.microsoft.com/office/drawing/2014/main" id="{98139B1C-01F6-DCBE-0A64-D86F4F7811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454522"/>
            <a:ext cx="8748898" cy="4176303"/>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D1FF57E7-214C-DB5B-8754-6A9F13BE8189}"/>
              </a:ext>
            </a:extLst>
          </p:cNvPr>
          <p:cNvPicPr>
            <a:picLocks noChangeAspect="1"/>
          </p:cNvPicPr>
          <p:nvPr/>
        </p:nvPicPr>
        <p:blipFill>
          <a:blip r:embed="rId3"/>
          <a:stretch>
            <a:fillRect/>
          </a:stretch>
        </p:blipFill>
        <p:spPr>
          <a:xfrm>
            <a:off x="1387635" y="5497460"/>
            <a:ext cx="5344978" cy="1360540"/>
          </a:xfrm>
          <a:prstGeom prst="rect">
            <a:avLst/>
          </a:prstGeom>
        </p:spPr>
      </p:pic>
    </p:spTree>
    <p:extLst>
      <p:ext uri="{BB962C8B-B14F-4D97-AF65-F5344CB8AC3E}">
        <p14:creationId xmlns:p14="http://schemas.microsoft.com/office/powerpoint/2010/main" val="16359494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a:extLst>
              <a:ext uri="{FF2B5EF4-FFF2-40B4-BE49-F238E27FC236}">
                <a16:creationId xmlns:a16="http://schemas.microsoft.com/office/drawing/2014/main" id="{19095FAE-16EF-CD15-5574-647DAD7266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910137"/>
            <a:ext cx="11780322" cy="56631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86393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4">
            <a:extLst>
              <a:ext uri="{FF2B5EF4-FFF2-40B4-BE49-F238E27FC236}">
                <a16:creationId xmlns:a16="http://schemas.microsoft.com/office/drawing/2014/main" id="{7FA71128-71CB-55C5-70EC-7180261D93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978110"/>
            <a:ext cx="11996517" cy="57670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42318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a:extLst>
              <a:ext uri="{FF2B5EF4-FFF2-40B4-BE49-F238E27FC236}">
                <a16:creationId xmlns:a16="http://schemas.microsoft.com/office/drawing/2014/main" id="{16C364A8-2A1A-0FEB-C419-4C565B3B70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8145" y="813910"/>
            <a:ext cx="9231229" cy="60440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24835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149087" y="988151"/>
            <a:ext cx="6102626" cy="400110"/>
          </a:xfrm>
          <a:prstGeom prst="rect">
            <a:avLst/>
          </a:prstGeom>
          <a:noFill/>
        </p:spPr>
        <p:txBody>
          <a:bodyPr wrap="square">
            <a:spAutoFit/>
          </a:bodyPr>
          <a:lstStyle/>
          <a:p>
            <a:r>
              <a:rPr lang="en-US" sz="2000" b="1" dirty="0">
                <a:solidFill>
                  <a:srgbClr val="213163"/>
                </a:solidFill>
              </a:rPr>
              <a:t>Conclusion:</a:t>
            </a:r>
            <a:r>
              <a:rPr lang="en-US" sz="1800" b="1" dirty="0">
                <a:solidFill>
                  <a:srgbClr val="213163"/>
                </a:solidFill>
              </a:rPr>
              <a:t>  </a:t>
            </a:r>
            <a:endParaRPr lang="en-IN" sz="1800" dirty="0">
              <a:solidFill>
                <a:srgbClr val="213163"/>
              </a:solidFill>
            </a:endParaRPr>
          </a:p>
        </p:txBody>
      </p:sp>
      <p:sp>
        <p:nvSpPr>
          <p:cNvPr id="4" name="TextBox 3">
            <a:extLst>
              <a:ext uri="{FF2B5EF4-FFF2-40B4-BE49-F238E27FC236}">
                <a16:creationId xmlns:a16="http://schemas.microsoft.com/office/drawing/2014/main" id="{E4D39248-9912-ECFD-EE80-EC1B77D0005F}"/>
              </a:ext>
            </a:extLst>
          </p:cNvPr>
          <p:cNvSpPr txBox="1"/>
          <p:nvPr/>
        </p:nvSpPr>
        <p:spPr>
          <a:xfrm>
            <a:off x="603662" y="1698172"/>
            <a:ext cx="10984675" cy="2390911"/>
          </a:xfrm>
          <a:prstGeom prst="rect">
            <a:avLst/>
          </a:prstGeom>
          <a:noFill/>
        </p:spPr>
        <p:txBody>
          <a:bodyPr wrap="square">
            <a:spAutoFit/>
          </a:bodyPr>
          <a:lstStyle/>
          <a:p>
            <a:r>
              <a:rPr lang="en-US" b="0" i="0" dirty="0">
                <a:effectLst/>
                <a:latin typeface="fkGroteskNeue"/>
              </a:rPr>
              <a:t>By leveraging historical greenhouse gas emission data and advanced machine learning techniques, this project successfully develops predictive models capable of forecasting future carbon emissions at both the country and global levels. The models demonstrate strong performance in capturing complex emission patterns and provide valuable insights into the factors driving emissions growth. These forecasts empower policymakers, businesses, and international organizations to make data-driven decisions, set achievable climate goals, and implement targeted interventions for emission reduction. The approach not only enhances the accuracy and reliability of emission predictions but also supports global efforts to combat climate change and achieve sustainable development objectives. </a:t>
            </a:r>
            <a:endParaRPr lang="en-IN" dirty="0"/>
          </a:p>
        </p:txBody>
      </p:sp>
    </p:spTree>
    <p:extLst>
      <p:ext uri="{BB962C8B-B14F-4D97-AF65-F5344CB8AC3E}">
        <p14:creationId xmlns:p14="http://schemas.microsoft.com/office/powerpoint/2010/main" val="151988358"/>
      </p:ext>
    </p:extLst>
  </p:cSld>
  <p:clrMapOvr>
    <a:masterClrMapping/>
  </p:clrMapOvr>
</p:sld>
</file>

<file path=ppt/theme/theme1.xml><?xml version="1.0" encoding="utf-8"?>
<a:theme xmlns:a="http://schemas.openxmlformats.org/drawingml/2006/main" name="Session 01 Design Thinking &amp; Critical Thinking">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ession 01 Design Thinking &amp; Critical Thinking" id="{1DE73F69-F87A-4ED3-81C1-82D2BA622E0C}" vid="{37568650-F724-47C7-905E-9640F8017497}"/>
    </a:ext>
  </a:extLst>
</a:theme>
</file>

<file path=docProps/app.xml><?xml version="1.0" encoding="utf-8"?>
<Properties xmlns="http://schemas.openxmlformats.org/officeDocument/2006/extended-properties" xmlns:vt="http://schemas.openxmlformats.org/officeDocument/2006/docPropsVTypes">
  <Template>Session 01 Design Thinking &amp; Critical Thinking</Template>
  <TotalTime>258</TotalTime>
  <Words>769</Words>
  <Application>Microsoft Office PowerPoint</Application>
  <PresentationFormat>Widescreen</PresentationFormat>
  <Paragraphs>59</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fkGroteskNeue</vt:lpstr>
      <vt:lpstr>var(--font-berkeley-mono)</vt:lpstr>
      <vt:lpstr>Session 01 Design Thinking &amp; Critical Thinking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Mahesh Kurhe</dc:creator>
  <cp:lastModifiedBy>VISHNU KUMAR SHARMA</cp:lastModifiedBy>
  <cp:revision>5</cp:revision>
  <dcterms:created xsi:type="dcterms:W3CDTF">2024-12-31T09:40:01Z</dcterms:created>
  <dcterms:modified xsi:type="dcterms:W3CDTF">2025-07-05T22:25:54Z</dcterms:modified>
</cp:coreProperties>
</file>